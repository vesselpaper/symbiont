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73152" cy="14630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40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共生之缚 Symbiont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63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BFD4FF"/>
                </a:solidFill>
                <a:latin typeface="微软雅黑"/>
                <a:ea typeface="微软雅黑"/>
              </a:rPr>
              <a:t>类恶魔城 2D 游戏 · 献祭与人性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9AA4B8"/>
                </a:solidFill>
                <a:latin typeface="微软雅黑"/>
                <a:ea typeface="微软雅黑"/>
              </a:rPr>
              <a:t>软件工程课程设计 · 第 2 组（6 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389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9AA4B8"/>
                </a:solidFill>
                <a:latin typeface="微软雅黑"/>
                <a:ea typeface="微软雅黑"/>
              </a:rPr>
              <a:t>课堂作业 2：分析建模 · 原型设计 · 技术难点与解决方案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7A8498"/>
                </a:solidFill>
                <a:latin typeface="微软雅黑"/>
                <a:ea typeface="微软雅黑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本次汇报按老师作业三点展开：建模 → 原型 → 难点方案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对应课堂作业 2 的三项要求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10607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465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A1A2E"/>
                </a:solidFill>
                <a:latin typeface="微软雅黑"/>
                <a:ea typeface="微软雅黑"/>
              </a:rPr>
              <a:t>① 分析建模工具（AI + 传统）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0370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类图 / 用例图 / 状态转换图 → 需求分析文档，关键点：数据项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95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A1A2E"/>
                </a:solidFill>
                <a:latin typeface="微软雅黑"/>
                <a:ea typeface="微软雅黑"/>
              </a:rPr>
              <a:t>② 设计原型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6674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原型设计工具：Figma 为主，输出 6 界面线框原型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526280"/>
            <a:ext cx="10607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67258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A1A2E"/>
                </a:solidFill>
                <a:latin typeface="微软雅黑"/>
                <a:ea typeface="微软雅黑"/>
              </a:rPr>
              <a:t>③ 技术难点与解决方案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978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14 个难点（≥ 6 人小组人数），逐个给出解决技术方案与实现方案，并制作本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一句话定位：无魔法蒸汽时代，骑士在献祭与人性间的抉择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技术形态：Godot 客户端 + FastAPI 后端 + MySQL + docker 全栈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>
                <a:solidFill>
                  <a:srgbClr val="1A1A2E"/>
                </a:solidFill>
                <a:latin typeface="微软雅黑"/>
                <a:ea typeface="微软雅黑"/>
              </a:rPr>
              <a:t>无魔法、蒸汽时代、神明存在的深渊地牢中，一名普通骑士在「献祭获得力量」与「守住人性」之间抉择。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286000"/>
          <a:ext cx="10607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  <a:gridCol w="5120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客户端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Godot 4.7（纯 GDScript，2D，GL Compatibility）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游戏本体：操控 / 战斗 / 对话 / 教程 / 存档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数据管道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SQL → SQLite → JSON → DataDB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物品/敌人/对话/结局等内容数据驱动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后端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FastAPI + SQLAlchemy + MySQL 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账号 / 远程存档 / 统计埋点 / 排行榜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部署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docker-compose（mysql8 + server + nginx）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一键拉起，浏览器可玩 Web 版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建模工具双轨并用：传统工具保证规范，AI 工具负责提效查漏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先画对，再让 AI 出初稿补遗漏，最后人工审校定稿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  <a:gridCol w="49377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用法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传统工具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Draw.io / StarUML / PlantUML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画类图、用例图、状态图、时序图，版本可控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传统工具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白板 / 便利贴 / Excel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需求研讨、功能划分、数据项登记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AI 工具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AI 画图（自然语言 → PlantUML/Mermaid）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出图初稿，再人工逐项校核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AI 工具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AI 需求分析 / 代码助手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从需求抽数据项、生成 SQL 与代码骨架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经验：AI 快但会编——图和数据项清单必须回到真实代码文件（schema.sql / models.py / 存档代码）逐项核对。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老师指定的三种核心图全部完成：用例图 / 类图 / 状态转换图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以下三页分别为三图，全部输出为 UML，配套说明见 docs/class1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840480"/>
                <a:gridCol w="5029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图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在本项目中的落点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用例图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谁（角色）能对系统做什么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游客/账号玩家/组员 × 游玩/教学/献祭/存档/排行榜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类图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系统有哪些对象、属性、关联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User / SaveData / GameEvent / Leaderboard 后端四模型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状态转换图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对象有哪些状态、怎么切换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游戏全局状态机 + 教程 10 状态机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三图在需求分析中的用法：用例图定范围，类图定数据，状态图定流程 → 汇总为需求分析文档（重点：数据项）。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用例图：三类角色 × 八类用例，游客登录后升级为账号玩家</a:t>
            </a:r>
          </a:p>
        </p:txBody>
      </p:sp>
      <p:pic>
        <p:nvPicPr>
          <p:cNvPr id="4" name="Picture 3" descr="用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" y="16668"/>
            <a:ext cx="76722" cy="49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类图：后端四个领域模型，User 与存档/事件/排行榜均为 1 对多</a:t>
            </a:r>
          </a:p>
        </p:txBody>
      </p:sp>
      <p:pic>
        <p:nvPicPr>
          <p:cNvPr id="4" name="Picture 3" descr="后端类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" y="16668"/>
            <a:ext cx="80988" cy="49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状态转换图：全局状态机 + 教程状态机，直接指导代码实现</a:t>
            </a:r>
          </a:p>
        </p:txBody>
      </p:sp>
      <p:pic>
        <p:nvPicPr>
          <p:cNvPr id="4" name="Picture 3" descr="游戏状态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" y="29015"/>
            <a:ext cx="57150" cy="24837"/>
          </a:xfrm>
          <a:prstGeom prst="rect">
            <a:avLst/>
          </a:prstGeom>
        </p:spPr>
      </p:pic>
      <p:pic>
        <p:nvPicPr>
          <p:cNvPr id="5" name="Picture 4" descr="教程状态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" y="26319"/>
            <a:ext cx="57150" cy="30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需求分析关键点——数据项：内容 / 存档 / 后端三类数据一次列清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数据项 = 表结构、存档格式、接口字段的共同基准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669280"/>
                <a:gridCol w="292608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关键字段示例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游戏内容（静态 SQL）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items 物品 / enemies 敌人 / npc / dialogues 对话 / endings 结局 / sacrifices 改造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id, name, type, stats, drops, effect, next_id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存档数据（Schema v1）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version, saved_at, game_progress{献祭/肢体/楼层/阵营/旗标}, player, inventory, levels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sacrifice_count, current_floor, faction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后端数据（MySQL）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users 账号 / saves 远程存档 / events 埋点 / leaderboard 排行榜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username, save_data(JSON), event, score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一致性约定：内容数据一处改 SQL 导出 JSON；存档 Schema v1 同时约束本地档与远程档；数据项变了先改 SQL/代码再改文档。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原型设计：Figma 为主、Axure 为辅，6 个界面线框已出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先线框定布局 → 组内评审 → 开发实现 → 手感以游戏内实际为准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4592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3891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定位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Figma（主）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在线低保真/高保真原型，多人协作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主菜单 / HUD / 对话 / 存档等界面线框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Axure RP（备）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交互细节与条件分支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存档读档、献祭计数联动等交互演示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Godot 编辑器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实际效果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手感、粒子、演出以实际游戏为准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原型与数据项一一对应：HUD「献祭 ✦ 2」= sacrifice_count；存档槽「第 2 层 · 献祭 3」= current_floor + sacrifice_count + saved_at。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系统 UI 原型总览：六个界面覆盖主流程与已实现里程碑</a:t>
            </a:r>
          </a:p>
        </p:txBody>
      </p:sp>
      <p:pic>
        <p:nvPicPr>
          <p:cNvPr id="4" name="Picture 3" descr="系统UI原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" y="14763"/>
            <a:ext cx="94690" cy="533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技术难点共 14 个（≥ 小组人数 6 人），覆盖客户端 / 后端 / 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前 5 个已实现验收，其余 9 个已给出解决技术方案与实现方案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589520"/>
                <a:gridCol w="128016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范围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客户端（8）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下劈跳高物理 / 教程状态机 / 引导光点 / 摄像机死区 / 手感调优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✅ 已解决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客户端（3）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存档读档 / 主菜单+HUD / 拒绝献祭结局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⏳ 方案已定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后端（4）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token 鉴权 / 远程存档同步 / 批量埋点 / 排行榜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⏳ 方案已定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部署（2）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docker 全栈一键拉起 / Godot Web 导出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⏳ 方案已定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五个难点已实现验收：小步验收 + 无头测试的方法被证明有效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每个难点都有明确的技术方案与实现落点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2062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解决技术方案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实现方案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下劈跳高物理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放弃碰撞信号，改为每帧物理空间查询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PhysicsShapeQueryParameters2D 64×80 查询，命中即反弹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教程状态机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事件驱动 + 每帧检测 + 软隔离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tutorial.gd 状态机，未轮到实体不响应，无头测试全链路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引导光点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飞行中关闭触碰、到达后重置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quest_marker.gd：tween 1.1s SINE 移动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摄像机死区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水平 lerp + 垂直死区 + clamp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camera_follow.gd 分轴处理，防晕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手感调优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手感参数全部常量化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跳高 3.7×身高、土狼时间等，组长试玩验收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客户端三个待实现难点：统一存档 Schema v1，界面按原型实现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存档 / 主菜单+HUD / 拒绝献祭结局，均为 M1 剩余任务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54480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02336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解决技术方案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实现方案（M1）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存档 / 读档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Schema v1 + 对象自序列化 to_dict/from_dict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save_system.gd 写 user://saves/slot_N.json，缺字段给默认值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主菜单 + HUD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HUD 数据全来自 GameManager，信号驱动刷新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按 08 原型图实现，继续游戏按 has_save() 亮起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拒绝献祭结局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拒绝事件 → refuse_die 结局对话 → GAME_OVER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对话 next_id 链接结局分支，状态机切到 GAME_OVER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后端与部署六个难点：成熟库 + 幂等 + 容器化，pytest 全覆盖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安全与数据一致性优先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63040"/>
          <a:ext cx="106070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846320"/>
                <a:gridCol w="4023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难点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解决技术方案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实现方案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token 鉴权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passlib/bcrypt 哈希 + JWT 签发校验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register/login 接口 + pytest（重名/错密码/无效 token）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远程存档同步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最后写入时间优先（LWW）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GET/PUT /saves/{slot} upsert，客户端异步 push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批量埋点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离线队列攒批 + 事件 id 幂等去重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POST /events 批量入库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排行榜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SQL 排序 + board 区分榜单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GET /leaderboard 按 score 降序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docker 全栈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compose 三容器 + 数据卷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mysql8/server/nginx，本地验证再进 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Web 导出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GL Compatibility + nginx 托管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导出 Web 版，相对路径反代避免 CORS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54864" cy="566928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微软雅黑"/>
                <a:ea typeface="微软雅黑"/>
              </a:rPr>
              <a:t>四阶段里程碑 × 六人分工：主线可玩 + 后端 + 文档全齐为保底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M0 基建 → M1 垂直切片 → M2 系统完善+后端 → M3 内容完成 → M4 打磨交付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463040"/>
          <a:ext cx="106070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marL="54864" marR="54864" marT="18288" marB="18288" anchor="ctr">
                    <a:solidFill>
                      <a:srgbClr val="1677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架构与集成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总体架构、Godot 骨架、客户端↔服务器接口、审核合并、CI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游戏设计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GDD、剧情/数值/关卡、手感验收、决策拍板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客户端开发 ×2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场景/敌人/道具/UI，与 agent 结对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后端开发 ×1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FastAPI + MySQL + docker，与 agent 结对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美术与资产 ×1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Kenney 整理、AI 像素画、音频、整合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测试与文档 ×1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  <a:latin typeface="微软雅黑"/>
                          <a:ea typeface="微软雅黑"/>
                        </a:rPr>
                        <a:t>GUT/pytest、课程 7 文档、周报、操作手册</a:t>
                      </a:r>
                    </a:p>
                  </a:txBody>
                  <a:tcPr marL="54864" marR="54864" marT="18288" marB="18288" anchor="ctr">
                    <a:solidFill>
                      <a:srgbClr val="EC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73152" cy="11887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谢谢 · 欢迎试玩指正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74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BFD4FF"/>
                </a:solidFill>
                <a:latin typeface="微软雅黑"/>
                <a:ea typeface="微软雅黑"/>
              </a:rPr>
              <a:t>共生之缚 Symbiont · 第 2 组 · 软件工程课程设计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